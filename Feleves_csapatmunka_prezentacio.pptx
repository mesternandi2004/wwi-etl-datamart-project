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Lato" panose="020B0604020202020204" charset="-18"/>
      <p:regular r:id="rId35"/>
      <p:bold r:id="rId36"/>
      <p:italic r:id="rId37"/>
      <p:boldItalic r:id="rId38"/>
    </p:embeddedFont>
    <p:embeddedFont>
      <p:font typeface="Poppins" panose="020B0604020202020204" charset="-18"/>
      <p:regular r:id="rId39"/>
      <p:bold r:id="rId40"/>
      <p:italic r:id="rId41"/>
      <p:boldItalic r:id="rId42"/>
    </p:embeddedFont>
    <p:embeddedFont>
      <p:font typeface="Trebuchet MS" panose="020B060302020202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gaEU7BhXoJVuzbR5AiK482p0na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9A34DA-999A-47F8-A419-A1E3F1B22A46}">
  <a:tblStyle styleId="{869A34DA-999A-47F8-A419-A1E3F1B22A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db9e038d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g3db9e038d2d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g3db9e038d2d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db9e038d2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g3db9e038d2d_0_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db9e038d2d_0_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b9e038d2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db9e038d2d_0_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db9e038d2d_0_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b9e038d2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g3db9e038d2d_0_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db9e038d2d_0_5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b9e038d2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db9e038d2d_0_8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db9e038d2d_0_8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b9e038d2d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db9e038d2d_0_1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db9e038d2d_0_1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bb5a1e7c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g3dbb5a1e7c5_0_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dbb5a1e7c5_0_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bb975c30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3dbb975c30d_0_6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dbb975c30d_0_6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bb975c30d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dbb975c30d_0_8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dbb975c30d_0_8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bb975c30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g3dbb975c30d_0_10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dbb975c30d_0_10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bb975c30d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g3dbb975c30d_0_1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dbb975c30d_0_1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bb975c30d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g3dbb975c30d_0_1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dbb975c30d_0_1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bb975c30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3dbb975c30d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dbb975c30d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b9e038d2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5" name="Google Shape;435;g3db9e038d2d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g3db9e038d2d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b9e038d2d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3db9e038d2d_0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g3db9e038d2d_0_1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b9e038d2d_0_0"/>
          <p:cNvSpPr/>
          <p:nvPr/>
        </p:nvSpPr>
        <p:spPr>
          <a:xfrm>
            <a:off x="484195" y="1097280"/>
            <a:ext cx="7680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lang="en-US" sz="4200" b="1" i="0" u="none" strike="noStrike" cap="none" dirty="0" err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Adattárházak</a:t>
            </a:r>
            <a:r>
              <a:rPr lang="en-US" sz="4200" b="1" i="0" u="none" strike="noStrike" cap="none" dirty="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4200" b="1" dirty="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Cs</a:t>
            </a:r>
            <a:r>
              <a:rPr lang="hu-HU" sz="4200" b="1" dirty="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apa</a:t>
            </a:r>
            <a:r>
              <a:rPr lang="en-US" sz="4200" b="1" dirty="0" err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tmunka</a:t>
            </a:r>
            <a:endParaRPr sz="4200" b="0" i="0" u="none" strike="noStrike" cap="none" dirty="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g3db9e038d2d_0_0"/>
          <p:cNvSpPr/>
          <p:nvPr/>
        </p:nvSpPr>
        <p:spPr>
          <a:xfrm>
            <a:off x="484225" y="2358061"/>
            <a:ext cx="76809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KALMÁR OLIVÉR - RY10LM</a:t>
            </a:r>
            <a:endParaRPr sz="1800">
              <a:solidFill>
                <a:srgbClr val="1B2A4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MESTER NÁNDOR - CQW1QQ</a:t>
            </a:r>
            <a:endParaRPr sz="1800">
              <a:solidFill>
                <a:srgbClr val="1B2A4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SZALKAI ATTILA - HWH9AU</a:t>
            </a:r>
            <a:endParaRPr sz="1800">
              <a:solidFill>
                <a:srgbClr val="1B2A4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1800"/>
              <a:buFont typeface="Calibri"/>
              <a:buNone/>
            </a:pPr>
            <a:endParaRPr sz="1800">
              <a:solidFill>
                <a:srgbClr val="38B2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3db9e038d2d_0_0"/>
          <p:cNvSpPr/>
          <p:nvPr/>
        </p:nvSpPr>
        <p:spPr>
          <a:xfrm>
            <a:off x="484200" y="2066575"/>
            <a:ext cx="7102200" cy="36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Google Shape;15;g3db9e038d2d_0_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2500" y="11887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g3db9e038d2d_0_0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g3db9e038d2d_0_0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db9e038d2d_0_15"/>
          <p:cNvSpPr/>
          <p:nvPr/>
        </p:nvSpPr>
        <p:spPr>
          <a:xfrm>
            <a:off x="640015" y="381907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Use Case-ek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db9e038d2d_0_15"/>
          <p:cNvSpPr/>
          <p:nvPr/>
        </p:nvSpPr>
        <p:spPr>
          <a:xfrm>
            <a:off x="640015" y="930548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Milyen üzleti kérdésekre ad választ az adattárház?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db9e038d2d_0_15"/>
          <p:cNvSpPr/>
          <p:nvPr/>
        </p:nvSpPr>
        <p:spPr>
          <a:xfrm>
            <a:off x="640015" y="1479188"/>
            <a:ext cx="2469000" cy="13716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g3db9e038d2d_0_15"/>
          <p:cNvSpPr/>
          <p:nvPr/>
        </p:nvSpPr>
        <p:spPr>
          <a:xfrm>
            <a:off x="640015" y="1479188"/>
            <a:ext cx="54900" cy="13716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g3db9e038d2d_0_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615" y="16620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g3db9e038d2d_0_15"/>
          <p:cNvSpPr/>
          <p:nvPr/>
        </p:nvSpPr>
        <p:spPr>
          <a:xfrm>
            <a:off x="822895" y="2119268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Értékesítési bevételek időbeli alakulása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(éves, negyedéves, havi bontás)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db9e038d2d_0_15"/>
          <p:cNvSpPr/>
          <p:nvPr/>
        </p:nvSpPr>
        <p:spPr>
          <a:xfrm>
            <a:off x="3337495" y="1479188"/>
            <a:ext cx="2469000" cy="13716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g3db9e038d2d_0_15"/>
          <p:cNvSpPr/>
          <p:nvPr/>
        </p:nvSpPr>
        <p:spPr>
          <a:xfrm>
            <a:off x="3337495" y="1479188"/>
            <a:ext cx="54900" cy="13716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" name="Google Shape;31;g3db9e038d2d_0_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095" y="16620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db9e038d2d_0_15"/>
          <p:cNvSpPr/>
          <p:nvPr/>
        </p:nvSpPr>
        <p:spPr>
          <a:xfrm>
            <a:off x="3520375" y="2119268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Legjobb termékkategóriák és termékek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árbevétel és profit alapján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db9e038d2d_0_15"/>
          <p:cNvSpPr/>
          <p:nvPr/>
        </p:nvSpPr>
        <p:spPr>
          <a:xfrm>
            <a:off x="6034975" y="1479188"/>
            <a:ext cx="2469000" cy="13716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g3db9e038d2d_0_15"/>
          <p:cNvSpPr/>
          <p:nvPr/>
        </p:nvSpPr>
        <p:spPr>
          <a:xfrm>
            <a:off x="6034975" y="1479188"/>
            <a:ext cx="54900" cy="13716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" name="Google Shape;35;g3db9e038d2d_0_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3575" y="16620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db9e038d2d_0_15"/>
          <p:cNvSpPr/>
          <p:nvPr/>
        </p:nvSpPr>
        <p:spPr>
          <a:xfrm>
            <a:off x="6217855" y="2119268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Legértékesebb vevőcsoportok és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vásárlói kategóriák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db9e038d2d_0_15"/>
          <p:cNvSpPr/>
          <p:nvPr/>
        </p:nvSpPr>
        <p:spPr>
          <a:xfrm>
            <a:off x="640015" y="3079388"/>
            <a:ext cx="2469000" cy="13716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g3db9e038d2d_0_15"/>
          <p:cNvSpPr/>
          <p:nvPr/>
        </p:nvSpPr>
        <p:spPr>
          <a:xfrm>
            <a:off x="640015" y="3079388"/>
            <a:ext cx="54900" cy="13716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" name="Google Shape;39;g3db9e038d2d_0_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8615" y="326226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db9e038d2d_0_15"/>
          <p:cNvSpPr/>
          <p:nvPr/>
        </p:nvSpPr>
        <p:spPr>
          <a:xfrm>
            <a:off x="822895" y="3719468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Földrajzi megoszlás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(ország, állam, város szinten)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db9e038d2d_0_15"/>
          <p:cNvSpPr/>
          <p:nvPr/>
        </p:nvSpPr>
        <p:spPr>
          <a:xfrm>
            <a:off x="3337495" y="3079388"/>
            <a:ext cx="2469000" cy="13716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g3db9e038d2d_0_15"/>
          <p:cNvSpPr/>
          <p:nvPr/>
        </p:nvSpPr>
        <p:spPr>
          <a:xfrm>
            <a:off x="3337495" y="3079388"/>
            <a:ext cx="54900" cy="13716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g3db9e038d2d_0_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66095" y="326226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db9e038d2d_0_15"/>
          <p:cNvSpPr/>
          <p:nvPr/>
        </p:nvSpPr>
        <p:spPr>
          <a:xfrm>
            <a:off x="3520375" y="3719468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Értékesítők teljesítménye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(árbevétel, tranzakciószám)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db9e038d2d_0_15"/>
          <p:cNvSpPr/>
          <p:nvPr/>
        </p:nvSpPr>
        <p:spPr>
          <a:xfrm>
            <a:off x="6034975" y="3079388"/>
            <a:ext cx="2469000" cy="13716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g3db9e038d2d_0_15"/>
          <p:cNvSpPr/>
          <p:nvPr/>
        </p:nvSpPr>
        <p:spPr>
          <a:xfrm>
            <a:off x="6034975" y="3079388"/>
            <a:ext cx="54900" cy="13716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g3db9e038d2d_0_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63575" y="326226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db9e038d2d_0_15"/>
          <p:cNvSpPr/>
          <p:nvPr/>
        </p:nvSpPr>
        <p:spPr>
          <a:xfrm>
            <a:off x="6217855" y="3719468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Szezonális mintázatok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(hónapok, negyedévek, hétvége vs. hétköznap)</a:t>
            </a:r>
            <a:endParaRPr sz="105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db9e038d2d_0_15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db9e038d2d_0_15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b9e038d2d_0_45"/>
          <p:cNvSpPr/>
          <p:nvPr/>
        </p:nvSpPr>
        <p:spPr>
          <a:xfrm>
            <a:off x="502915" y="52052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Forrásadatok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db9e038d2d_0_45"/>
          <p:cNvSpPr/>
          <p:nvPr/>
        </p:nvSpPr>
        <p:spPr>
          <a:xfrm>
            <a:off x="502925" y="1343475"/>
            <a:ext cx="3801600" cy="2095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g3db9e038d2d_0_4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675" y="152635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db9e038d2d_0_45"/>
          <p:cNvSpPr/>
          <p:nvPr/>
        </p:nvSpPr>
        <p:spPr>
          <a:xfrm>
            <a:off x="1508755" y="1526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WideWorldImporters</a:t>
            </a:r>
            <a:endParaRPr sz="16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db9e038d2d_0_45"/>
          <p:cNvSpPr/>
          <p:nvPr/>
        </p:nvSpPr>
        <p:spPr>
          <a:xfrm>
            <a:off x="868675" y="2176515"/>
            <a:ext cx="3200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Microsoft OLTP </a:t>
            </a:r>
            <a:r>
              <a:rPr lang="en-US" sz="1200" dirty="0" err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mintaadatbázis</a:t>
            </a:r>
            <a:r>
              <a:rPr lang="en-US" sz="1200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u-HU" sz="1200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200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nemzetközi</a:t>
            </a:r>
            <a:r>
              <a:rPr lang="en-US" sz="1200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nagykereskedő</a:t>
            </a:r>
            <a:r>
              <a:rPr lang="en-US" sz="1200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cég</a:t>
            </a:r>
            <a:r>
              <a:rPr lang="en-US" sz="1200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működési</a:t>
            </a:r>
            <a:r>
              <a:rPr lang="en-US" sz="1200" dirty="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adatai</a:t>
            </a:r>
            <a:endParaRPr sz="1200" dirty="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db9e038d2d_0_45"/>
          <p:cNvSpPr/>
          <p:nvPr/>
        </p:nvSpPr>
        <p:spPr>
          <a:xfrm>
            <a:off x="868675" y="2852240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Sémák: </a:t>
            </a:r>
            <a:r>
              <a:rPr lang="en-US" sz="12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Sales, Warehouse, Application</a:t>
            </a:r>
            <a:endParaRPr sz="1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" name="Google Shape;62;g3db9e038d2d_0_45"/>
          <p:cNvGraphicFramePr/>
          <p:nvPr/>
        </p:nvGraphicFramePr>
        <p:xfrm>
          <a:off x="4617715" y="1252040"/>
          <a:ext cx="4023350" cy="2727960"/>
        </p:xfrm>
        <a:graphic>
          <a:graphicData uri="http://schemas.openxmlformats.org/drawingml/2006/table">
            <a:tbl>
              <a:tblPr>
                <a:noFill/>
                <a:tableStyleId>{869A34DA-999A-47F8-A419-A1E3F1B22A46}</a:tableStyleId>
              </a:tblPr>
              <a:tblGrid>
                <a:gridCol w="21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Forrás tábla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Leírása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Sales.Invoices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Számlák fejléc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Sales.InvoiceLines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Számla tételsorok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Sales.Customers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Vevők adatai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Sales.CustomerCategories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Vevő kategóriák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Sales.BuyingGroups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Vásárlói csoportok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Application.People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Személyek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Warehouse.StockItems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Termékek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Warehouse.StockGroups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Termékkategóriák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Warehouse.Colors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Színek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Warehouse.PackageTypes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Csomagolás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Application.Cities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Városok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Application.StateProvinces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Államok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Application.Countries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Országok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7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Application.DeliveryMethods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Szállítási módok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0800" marR="50800" marT="25400" marB="254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3" name="Google Shape;63;g3db9e038d2d_0_45"/>
          <p:cNvSpPr/>
          <p:nvPr/>
        </p:nvSpPr>
        <p:spPr>
          <a:xfrm>
            <a:off x="502915" y="3621420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15 forrástábla → 3 réteg</a:t>
            </a:r>
            <a:endParaRPr sz="13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db9e038d2d_0_45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db9e038d2d_0_45"/>
          <p:cNvSpPr/>
          <p:nvPr/>
        </p:nvSpPr>
        <p:spPr>
          <a:xfrm>
            <a:off x="0" y="-216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b9e038d2d_0_57"/>
          <p:cNvSpPr/>
          <p:nvPr/>
        </p:nvSpPr>
        <p:spPr>
          <a:xfrm>
            <a:off x="548640" y="365132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Architektúra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db9e038d2d_0_57"/>
          <p:cNvSpPr/>
          <p:nvPr/>
        </p:nvSpPr>
        <p:spPr>
          <a:xfrm>
            <a:off x="548640" y="1188720"/>
            <a:ext cx="2377500" cy="2743200"/>
          </a:xfrm>
          <a:prstGeom prst="rect">
            <a:avLst/>
          </a:prstGeom>
          <a:solidFill>
            <a:srgbClr val="FFF5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db9e038d2d_0_57"/>
          <p:cNvSpPr/>
          <p:nvPr/>
        </p:nvSpPr>
        <p:spPr>
          <a:xfrm>
            <a:off x="548640" y="1188720"/>
            <a:ext cx="2377500" cy="73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db9e038d2d_0_57"/>
          <p:cNvSpPr/>
          <p:nvPr/>
        </p:nvSpPr>
        <p:spPr>
          <a:xfrm>
            <a:off x="548640" y="137160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2000"/>
              <a:buFont typeface="Trebuchet MS"/>
              <a:buNone/>
            </a:pPr>
            <a:r>
              <a:rPr lang="en-US" sz="2000" b="1">
                <a:solidFill>
                  <a:srgbClr val="E53E3E"/>
                </a:solidFill>
                <a:latin typeface="Trebuchet MS"/>
                <a:ea typeface="Trebuchet MS"/>
                <a:cs typeface="Trebuchet MS"/>
                <a:sym typeface="Trebuchet MS"/>
              </a:rPr>
              <a:t>RAW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db9e038d2d_0_57"/>
          <p:cNvSpPr/>
          <p:nvPr/>
        </p:nvSpPr>
        <p:spPr>
          <a:xfrm>
            <a:off x="548640" y="178308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Nyers adatok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db9e038d2d_0_57"/>
          <p:cNvSpPr/>
          <p:nvPr/>
        </p:nvSpPr>
        <p:spPr>
          <a:xfrm>
            <a:off x="731520" y="2194560"/>
            <a:ext cx="20118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Forrástáblák változatlan szerkezetben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Minden oszlop NVARCHAR(256)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Betöltéskor törlődik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Gyors áttöltés konverzió nélkül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g3db9e038d2d_0_5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9232" y="2286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db9e038d2d_0_57"/>
          <p:cNvSpPr/>
          <p:nvPr/>
        </p:nvSpPr>
        <p:spPr>
          <a:xfrm>
            <a:off x="3520440" y="1188720"/>
            <a:ext cx="2377500" cy="2743200"/>
          </a:xfrm>
          <a:prstGeom prst="rect">
            <a:avLst/>
          </a:prstGeom>
          <a:solidFill>
            <a:srgbClr val="FFFF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db9e038d2d_0_57"/>
          <p:cNvSpPr/>
          <p:nvPr/>
        </p:nvSpPr>
        <p:spPr>
          <a:xfrm>
            <a:off x="3520440" y="1188720"/>
            <a:ext cx="2377500" cy="732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db9e038d2d_0_57"/>
          <p:cNvSpPr/>
          <p:nvPr/>
        </p:nvSpPr>
        <p:spPr>
          <a:xfrm>
            <a:off x="3520440" y="137160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9E2E"/>
              </a:buClr>
              <a:buSzPts val="2000"/>
              <a:buFont typeface="Trebuchet MS"/>
              <a:buNone/>
            </a:pPr>
            <a:r>
              <a:rPr lang="en-US" sz="2000" b="1">
                <a:solidFill>
                  <a:srgbClr val="D69E2E"/>
                </a:solidFill>
                <a:latin typeface="Trebuchet MS"/>
                <a:ea typeface="Trebuchet MS"/>
                <a:cs typeface="Trebuchet MS"/>
                <a:sym typeface="Trebuchet MS"/>
              </a:rPr>
              <a:t>STAGE (STA)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db9e038d2d_0_57"/>
          <p:cNvSpPr/>
          <p:nvPr/>
        </p:nvSpPr>
        <p:spPr>
          <a:xfrm>
            <a:off x="3520440" y="178308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Típusos adatok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db9e038d2d_0_57"/>
          <p:cNvSpPr/>
          <p:nvPr/>
        </p:nvSpPr>
        <p:spPr>
          <a:xfrm>
            <a:off x="3703320" y="2194560"/>
            <a:ext cx="20118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RAW struktúra megtartva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Helyes adattípusok megadása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Betöltéskor törlődik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Adatminőség biztosítása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g3db9e038d2d_0_5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1032" y="2286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db9e038d2d_0_57"/>
          <p:cNvSpPr/>
          <p:nvPr/>
        </p:nvSpPr>
        <p:spPr>
          <a:xfrm>
            <a:off x="6492240" y="1188720"/>
            <a:ext cx="2377500" cy="2743200"/>
          </a:xfrm>
          <a:prstGeom prst="rect">
            <a:avLst/>
          </a:prstGeom>
          <a:solidFill>
            <a:srgbClr val="F0FFF4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db9e038d2d_0_57"/>
          <p:cNvSpPr/>
          <p:nvPr/>
        </p:nvSpPr>
        <p:spPr>
          <a:xfrm>
            <a:off x="6492240" y="1188720"/>
            <a:ext cx="2377500" cy="73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db9e038d2d_0_57"/>
          <p:cNvSpPr/>
          <p:nvPr/>
        </p:nvSpPr>
        <p:spPr>
          <a:xfrm>
            <a:off x="6492240" y="137160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A169"/>
              </a:buClr>
              <a:buSzPts val="2000"/>
              <a:buFont typeface="Trebuchet MS"/>
              <a:buNone/>
            </a:pPr>
            <a:r>
              <a:rPr lang="en-US" sz="2000" b="1">
                <a:solidFill>
                  <a:srgbClr val="38A169"/>
                </a:solidFill>
                <a:latin typeface="Trebuchet MS"/>
                <a:ea typeface="Trebuchet MS"/>
                <a:cs typeface="Trebuchet MS"/>
                <a:sym typeface="Trebuchet MS"/>
              </a:rPr>
              <a:t>DWH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b9e038d2d_0_57"/>
          <p:cNvSpPr/>
          <p:nvPr/>
        </p:nvSpPr>
        <p:spPr>
          <a:xfrm>
            <a:off x="6492240" y="178308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Adattárház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db9e038d2d_0_57"/>
          <p:cNvSpPr/>
          <p:nvPr/>
        </p:nvSpPr>
        <p:spPr>
          <a:xfrm>
            <a:off x="6675120" y="2194560"/>
            <a:ext cx="20118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SCD2 kezelése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Adatok gyűlnek, nem törlődnek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Csillagséma VIEW-ek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db9e038d2d_0_57"/>
          <p:cNvSpPr/>
          <p:nvPr/>
        </p:nvSpPr>
        <p:spPr>
          <a:xfrm>
            <a:off x="548640" y="429768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WideWorldImporters  →  RAW  →  STA  →  DWH  →  Csillagséma VIEW-ek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b9e038d2d_0_57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db9e038d2d_0_57"/>
          <p:cNvSpPr/>
          <p:nvPr/>
        </p:nvSpPr>
        <p:spPr>
          <a:xfrm>
            <a:off x="0" y="-2285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b9e038d2d_0_80"/>
          <p:cNvSpPr/>
          <p:nvPr/>
        </p:nvSpPr>
        <p:spPr>
          <a:xfrm>
            <a:off x="365740" y="304843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Csillagséma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b9e038d2d_0_80"/>
          <p:cNvSpPr/>
          <p:nvPr/>
        </p:nvSpPr>
        <p:spPr>
          <a:xfrm>
            <a:off x="3200400" y="2124525"/>
            <a:ext cx="2743200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b9e038d2d_0_80"/>
          <p:cNvSpPr/>
          <p:nvPr/>
        </p:nvSpPr>
        <p:spPr>
          <a:xfrm>
            <a:off x="3200400" y="2261685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FactSales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db9e038d2d_0_80"/>
          <p:cNvSpPr/>
          <p:nvPr/>
        </p:nvSpPr>
        <p:spPr>
          <a:xfrm>
            <a:off x="3383280" y="2673165"/>
            <a:ext cx="23775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Quantity, UnitPrice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TaxAmount, LineProfit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EE3F8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ExtendedPrice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db9e038d2d_0_80"/>
          <p:cNvSpPr/>
          <p:nvPr/>
        </p:nvSpPr>
        <p:spPr>
          <a:xfrm>
            <a:off x="365760" y="1118685"/>
            <a:ext cx="2194500" cy="822900"/>
          </a:xfrm>
          <a:prstGeom prst="rect">
            <a:avLst/>
          </a:prstGeom>
          <a:solidFill>
            <a:srgbClr val="F7FAFC"/>
          </a:solidFill>
          <a:ln w="19050" cap="flat" cmpd="sng">
            <a:solidFill>
              <a:srgbClr val="3182C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db9e038d2d_0_80"/>
          <p:cNvSpPr/>
          <p:nvPr/>
        </p:nvSpPr>
        <p:spPr>
          <a:xfrm>
            <a:off x="365760" y="1164405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182CE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3182CE"/>
                </a:solidFill>
                <a:latin typeface="Trebuchet MS"/>
                <a:ea typeface="Trebuchet MS"/>
                <a:cs typeface="Trebuchet MS"/>
                <a:sym typeface="Trebuchet MS"/>
              </a:rPr>
              <a:t>DimDate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db9e038d2d_0_80"/>
          <p:cNvSpPr/>
          <p:nvPr/>
        </p:nvSpPr>
        <p:spPr>
          <a:xfrm>
            <a:off x="457200" y="1466157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DateKey, Year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Quarter, Month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g3db9e038d2d_0_80"/>
          <p:cNvCxnSpPr/>
          <p:nvPr/>
        </p:nvCxnSpPr>
        <p:spPr>
          <a:xfrm>
            <a:off x="2560320" y="1530163"/>
            <a:ext cx="640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5" name="Google Shape;105;g3db9e038d2d_0_80"/>
          <p:cNvSpPr/>
          <p:nvPr/>
        </p:nvSpPr>
        <p:spPr>
          <a:xfrm>
            <a:off x="365760" y="2398845"/>
            <a:ext cx="2194500" cy="822900"/>
          </a:xfrm>
          <a:prstGeom prst="rect">
            <a:avLst/>
          </a:prstGeom>
          <a:solidFill>
            <a:srgbClr val="F7FAFC"/>
          </a:solidFill>
          <a:ln w="19050" cap="flat" cmpd="sng">
            <a:solidFill>
              <a:srgbClr val="38A16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db9e038d2d_0_80"/>
          <p:cNvSpPr/>
          <p:nvPr/>
        </p:nvSpPr>
        <p:spPr>
          <a:xfrm>
            <a:off x="365760" y="2444565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A169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38A169"/>
                </a:solidFill>
                <a:latin typeface="Trebuchet MS"/>
                <a:ea typeface="Trebuchet MS"/>
                <a:cs typeface="Trebuchet MS"/>
                <a:sym typeface="Trebuchet MS"/>
              </a:rPr>
              <a:t>DimCustomer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db9e038d2d_0_80"/>
          <p:cNvSpPr/>
          <p:nvPr/>
        </p:nvSpPr>
        <p:spPr>
          <a:xfrm>
            <a:off x="457200" y="2746317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CustomerName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Category, BuyingGroup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g3db9e038d2d_0_80"/>
          <p:cNvCxnSpPr/>
          <p:nvPr/>
        </p:nvCxnSpPr>
        <p:spPr>
          <a:xfrm>
            <a:off x="2560320" y="2810325"/>
            <a:ext cx="640200" cy="0"/>
          </a:xfrm>
          <a:prstGeom prst="straightConnector1">
            <a:avLst/>
          </a:prstGeom>
          <a:noFill/>
          <a:ln w="19050" cap="flat" cmpd="sng">
            <a:solidFill>
              <a:srgbClr val="CBD5E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9" name="Google Shape;109;g3db9e038d2d_0_80"/>
          <p:cNvSpPr/>
          <p:nvPr/>
        </p:nvSpPr>
        <p:spPr>
          <a:xfrm>
            <a:off x="6583680" y="1118685"/>
            <a:ext cx="2194500" cy="822900"/>
          </a:xfrm>
          <a:prstGeom prst="rect">
            <a:avLst/>
          </a:prstGeom>
          <a:solidFill>
            <a:srgbClr val="F7FAFC"/>
          </a:solidFill>
          <a:ln w="19050" cap="flat" cmpd="sng">
            <a:solidFill>
              <a:srgbClr val="D69E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db9e038d2d_0_80"/>
          <p:cNvSpPr/>
          <p:nvPr/>
        </p:nvSpPr>
        <p:spPr>
          <a:xfrm>
            <a:off x="6583680" y="1164405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9E2E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D69E2E"/>
                </a:solidFill>
                <a:latin typeface="Trebuchet MS"/>
                <a:ea typeface="Trebuchet MS"/>
                <a:cs typeface="Trebuchet MS"/>
                <a:sym typeface="Trebuchet MS"/>
              </a:rPr>
              <a:t>DimProduct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db9e038d2d_0_80"/>
          <p:cNvSpPr/>
          <p:nvPr/>
        </p:nvSpPr>
        <p:spPr>
          <a:xfrm>
            <a:off x="6675120" y="1466157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StockItemName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Brand, Color, StockGroup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g3db9e038d2d_0_80"/>
          <p:cNvCxnSpPr/>
          <p:nvPr/>
        </p:nvCxnSpPr>
        <p:spPr>
          <a:xfrm>
            <a:off x="5943600" y="1530165"/>
            <a:ext cx="640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3" name="Google Shape;113;g3db9e038d2d_0_80"/>
          <p:cNvSpPr/>
          <p:nvPr/>
        </p:nvSpPr>
        <p:spPr>
          <a:xfrm>
            <a:off x="6583680" y="2398845"/>
            <a:ext cx="2194500" cy="822900"/>
          </a:xfrm>
          <a:prstGeom prst="rect">
            <a:avLst/>
          </a:prstGeom>
          <a:solidFill>
            <a:srgbClr val="F7FAFC"/>
          </a:solidFill>
          <a:ln w="19050" cap="flat" cmpd="sng">
            <a:solidFill>
              <a:srgbClr val="805AD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db9e038d2d_0_80"/>
          <p:cNvSpPr/>
          <p:nvPr/>
        </p:nvSpPr>
        <p:spPr>
          <a:xfrm>
            <a:off x="6583680" y="2444565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05AD5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805AD5"/>
                </a:solidFill>
                <a:latin typeface="Trebuchet MS"/>
                <a:ea typeface="Trebuchet MS"/>
                <a:cs typeface="Trebuchet MS"/>
                <a:sym typeface="Trebuchet MS"/>
              </a:rPr>
              <a:t>DimSalesperson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db9e038d2d_0_80"/>
          <p:cNvSpPr/>
          <p:nvPr/>
        </p:nvSpPr>
        <p:spPr>
          <a:xfrm>
            <a:off x="6675120" y="2746317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FullName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IsSalesperson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g3db9e038d2d_0_80"/>
          <p:cNvCxnSpPr/>
          <p:nvPr/>
        </p:nvCxnSpPr>
        <p:spPr>
          <a:xfrm>
            <a:off x="5943600" y="2810325"/>
            <a:ext cx="640200" cy="0"/>
          </a:xfrm>
          <a:prstGeom prst="straightConnector1">
            <a:avLst/>
          </a:prstGeom>
          <a:noFill/>
          <a:ln w="19050" cap="flat" cmpd="sng">
            <a:solidFill>
              <a:srgbClr val="CBD5E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7" name="Google Shape;117;g3db9e038d2d_0_80"/>
          <p:cNvSpPr/>
          <p:nvPr/>
        </p:nvSpPr>
        <p:spPr>
          <a:xfrm>
            <a:off x="365760" y="3679005"/>
            <a:ext cx="2194500" cy="822900"/>
          </a:xfrm>
          <a:prstGeom prst="rect">
            <a:avLst/>
          </a:prstGeom>
          <a:solidFill>
            <a:srgbClr val="F7FAFC"/>
          </a:solidFill>
          <a:ln w="19050" cap="flat" cmpd="sng">
            <a:solidFill>
              <a:srgbClr val="DD6B2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db9e038d2d_0_80"/>
          <p:cNvSpPr/>
          <p:nvPr/>
        </p:nvSpPr>
        <p:spPr>
          <a:xfrm>
            <a:off x="365760" y="3724725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D6B20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DD6B20"/>
                </a:solidFill>
                <a:latin typeface="Trebuchet MS"/>
                <a:ea typeface="Trebuchet MS"/>
                <a:cs typeface="Trebuchet MS"/>
                <a:sym typeface="Trebuchet MS"/>
              </a:rPr>
              <a:t>DimCity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db9e038d2d_0_80"/>
          <p:cNvSpPr/>
          <p:nvPr/>
        </p:nvSpPr>
        <p:spPr>
          <a:xfrm>
            <a:off x="457200" y="4026477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CityName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State, Country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g3db9e038d2d_0_80"/>
          <p:cNvCxnSpPr/>
          <p:nvPr/>
        </p:nvCxnSpPr>
        <p:spPr>
          <a:xfrm>
            <a:off x="2560320" y="2810325"/>
            <a:ext cx="640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1" name="Google Shape;121;g3db9e038d2d_0_80"/>
          <p:cNvSpPr/>
          <p:nvPr/>
        </p:nvSpPr>
        <p:spPr>
          <a:xfrm>
            <a:off x="6583680" y="3679006"/>
            <a:ext cx="2194500" cy="822900"/>
          </a:xfrm>
          <a:prstGeom prst="rect">
            <a:avLst/>
          </a:prstGeom>
          <a:solidFill>
            <a:srgbClr val="F7FAFC"/>
          </a:solidFill>
          <a:ln w="19050" cap="flat" cmpd="sng">
            <a:solidFill>
              <a:srgbClr val="E53E3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db9e038d2d_0_80"/>
          <p:cNvSpPr/>
          <p:nvPr/>
        </p:nvSpPr>
        <p:spPr>
          <a:xfrm>
            <a:off x="6583680" y="3724726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200"/>
              <a:buFont typeface="Trebuchet MS"/>
              <a:buNone/>
            </a:pPr>
            <a:r>
              <a:rPr lang="en-US" sz="1200" b="1">
                <a:solidFill>
                  <a:srgbClr val="E53E3E"/>
                </a:solidFill>
                <a:latin typeface="Trebuchet MS"/>
                <a:ea typeface="Trebuchet MS"/>
                <a:cs typeface="Trebuchet MS"/>
                <a:sym typeface="Trebuchet MS"/>
              </a:rPr>
              <a:t>DimDeliveryMethod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b9e038d2d_0_80"/>
          <p:cNvSpPr/>
          <p:nvPr/>
        </p:nvSpPr>
        <p:spPr>
          <a:xfrm>
            <a:off x="6675120" y="4026478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DeliveryMethodName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g3db9e038d2d_0_80"/>
          <p:cNvCxnSpPr/>
          <p:nvPr/>
        </p:nvCxnSpPr>
        <p:spPr>
          <a:xfrm>
            <a:off x="5943600" y="2810325"/>
            <a:ext cx="640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5" name="Google Shape;125;g3db9e038d2d_0_80"/>
          <p:cNvCxnSpPr/>
          <p:nvPr/>
        </p:nvCxnSpPr>
        <p:spPr>
          <a:xfrm>
            <a:off x="5910046" y="1530165"/>
            <a:ext cx="0" cy="59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6" name="Google Shape;126;g3db9e038d2d_0_80"/>
          <p:cNvCxnSpPr/>
          <p:nvPr/>
        </p:nvCxnSpPr>
        <p:spPr>
          <a:xfrm>
            <a:off x="3225372" y="1530165"/>
            <a:ext cx="0" cy="59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7" name="Google Shape;127;g3db9e038d2d_0_80"/>
          <p:cNvCxnSpPr/>
          <p:nvPr/>
        </p:nvCxnSpPr>
        <p:spPr>
          <a:xfrm>
            <a:off x="2585292" y="4090484"/>
            <a:ext cx="640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8" name="Google Shape;128;g3db9e038d2d_0_80"/>
          <p:cNvCxnSpPr/>
          <p:nvPr/>
        </p:nvCxnSpPr>
        <p:spPr>
          <a:xfrm>
            <a:off x="3250344" y="3496125"/>
            <a:ext cx="0" cy="59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9" name="Google Shape;129;g3db9e038d2d_0_80"/>
          <p:cNvCxnSpPr/>
          <p:nvPr/>
        </p:nvCxnSpPr>
        <p:spPr>
          <a:xfrm>
            <a:off x="5943600" y="4097172"/>
            <a:ext cx="640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0" name="Google Shape;130;g3db9e038d2d_0_80"/>
          <p:cNvCxnSpPr/>
          <p:nvPr/>
        </p:nvCxnSpPr>
        <p:spPr>
          <a:xfrm>
            <a:off x="5888081" y="3502812"/>
            <a:ext cx="0" cy="594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1" name="Google Shape;131;g3db9e038d2d_0_80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db9e038d2d_0_80"/>
          <p:cNvSpPr/>
          <p:nvPr/>
        </p:nvSpPr>
        <p:spPr>
          <a:xfrm>
            <a:off x="25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b9e038d2d_0_118"/>
          <p:cNvSpPr/>
          <p:nvPr/>
        </p:nvSpPr>
        <p:spPr>
          <a:xfrm>
            <a:off x="457190" y="53627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Forrás–cél megfeleltetés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g3db9e038d2d_0_118"/>
          <p:cNvGraphicFramePr/>
          <p:nvPr/>
        </p:nvGraphicFramePr>
        <p:xfrm>
          <a:off x="457200" y="1508155"/>
          <a:ext cx="8229600" cy="2118360"/>
        </p:xfrm>
        <a:graphic>
          <a:graphicData uri="http://schemas.openxmlformats.org/drawingml/2006/table">
            <a:tbl>
              <a:tblPr>
                <a:noFill/>
                <a:tableStyleId>{869A34DA-999A-47F8-A419-A1E3F1B22A46}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Dimenzió / Fact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Forrás táblák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JOIN logika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528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52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FactSales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Invoices + InvoiceLines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InvoiceLines.InvoiceID = Invoices.InvoiceID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528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52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DimCustomer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Customers + CustomerCategories +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BuyingGroups + Cities + States + Countries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CustomerCategoryID, BuyingGroupID,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DeliveryCityID JOIN-ok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528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52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DimProduct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StockItems + Colors + PackageTypes +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StockItemStockGroups + StockGroups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ColorID, UnitPackageID,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OuterPackageID JOIN-ok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528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52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DimSalesperson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People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IsSalesperson = 1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528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52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DimDeliveryMethod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DeliveryMethods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Közvetlen áttöltés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528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52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DimCity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Cities + StateProvinces + Countries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StateProvinceID, CountryID JOIN-ok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5282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C52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DimDate</a:t>
                      </a: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strike="noStrike" cap="none">
                          <a:solidFill>
                            <a:srgbClr val="1A20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Generált</a:t>
                      </a:r>
                      <a:endParaRPr sz="9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18096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7180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Generált dátumtábla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38100" marB="38100">
                    <a:lnL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40" name="Google Shape;140;g3db9e038d2d_0_1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90" y="391001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db9e038d2d_0_118"/>
          <p:cNvSpPr/>
          <p:nvPr/>
        </p:nvSpPr>
        <p:spPr>
          <a:xfrm>
            <a:off x="822950" y="3897059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6 dimenzió + 1 ténytábla = teljes csillagséma </a:t>
            </a:r>
            <a:endParaRPr sz="13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db9e038d2d_0_118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db9e038d2d_0_118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 folyamat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182880" y="960120"/>
            <a:ext cx="2011680" cy="3566160"/>
          </a:xfrm>
          <a:prstGeom prst="rect">
            <a:avLst/>
          </a:prstGeom>
          <a:solidFill>
            <a:srgbClr val="E8F4F8"/>
          </a:solidFill>
          <a:ln w="254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182880" y="960120"/>
            <a:ext cx="2011680" cy="54864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182880" y="960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274320" y="1600200"/>
            <a:ext cx="1828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Forrásadatok változatlan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másolata NVARCHAR(256)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típusban.</a:t>
            </a:r>
            <a:endParaRPr sz="11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Gyors kiemelés,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audit logging.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2194560" y="2606040"/>
            <a:ext cx="201168" cy="54864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2395728" y="960120"/>
            <a:ext cx="2011680" cy="3566160"/>
          </a:xfrm>
          <a:prstGeom prst="rect">
            <a:avLst/>
          </a:prstGeom>
          <a:solidFill>
            <a:srgbClr val="E8F4F8"/>
          </a:solidFill>
          <a:ln w="254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2395728" y="960120"/>
            <a:ext cx="2011680" cy="54864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2395728" y="960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2487168" y="1600200"/>
            <a:ext cx="1828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Típuskonverzió: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NVARCHAR → INT/DATE/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DECIMAL. </a:t>
            </a:r>
            <a:endParaRPr/>
          </a:p>
        </p:txBody>
      </p:sp>
      <p:sp>
        <p:nvSpPr>
          <p:cNvPr id="160" name="Google Shape;160;p2"/>
          <p:cNvSpPr/>
          <p:nvPr/>
        </p:nvSpPr>
        <p:spPr>
          <a:xfrm>
            <a:off x="4407408" y="2606040"/>
            <a:ext cx="201168" cy="54864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4608576" y="960120"/>
            <a:ext cx="2011680" cy="3566160"/>
          </a:xfrm>
          <a:prstGeom prst="rect">
            <a:avLst/>
          </a:prstGeom>
          <a:solidFill>
            <a:srgbClr val="E8F4F8"/>
          </a:solidFill>
          <a:ln w="254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4608576" y="960120"/>
            <a:ext cx="2011680" cy="54864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4608576" y="960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DWH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4700016" y="1600200"/>
            <a:ext cx="1828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Historizálás SCD1/SCD2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logikával. </a:t>
            </a:r>
            <a:endParaRPr sz="11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ValidTo és ValidFrom hozzáadása. 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Denormalizált nézetek.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6620256" y="2606040"/>
            <a:ext cx="201168" cy="54864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6821424" y="960120"/>
            <a:ext cx="2011680" cy="3566160"/>
          </a:xfrm>
          <a:prstGeom prst="rect">
            <a:avLst/>
          </a:prstGeom>
          <a:solidFill>
            <a:srgbClr val="E8F4F8"/>
          </a:solidFill>
          <a:ln w="254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6821424" y="960120"/>
            <a:ext cx="2011680" cy="548640"/>
          </a:xfrm>
          <a:prstGeom prst="rect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6821424" y="960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MART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6912864" y="1600200"/>
            <a:ext cx="1828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Csillagséma: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FactSales + 5 dimenzió.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MERGE logika.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BI-ready.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Extract – RAW réteg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Betöltési folyamat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274320" y="1234440"/>
            <a:ext cx="3226526" cy="530352"/>
          </a:xfrm>
          <a:prstGeom prst="rect">
            <a:avLst/>
          </a:prstGeom>
          <a:solidFill>
            <a:srgbClr val="E8F4F8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411480" y="1261872"/>
            <a:ext cx="300653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① TRUNCATE RAW táblák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274320" y="1892808"/>
            <a:ext cx="3226526" cy="5303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411480" y="1920240"/>
            <a:ext cx="300653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② OLE DB Source → CAST AS NVARCHAR(256)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274320" y="2551176"/>
            <a:ext cx="3226526" cy="530352"/>
          </a:xfrm>
          <a:prstGeom prst="rect">
            <a:avLst/>
          </a:prstGeom>
          <a:solidFill>
            <a:srgbClr val="E8F4F8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411480" y="2578608"/>
            <a:ext cx="300653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③ Derived Column: LoadDts + LoadNumber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274320" y="3209544"/>
            <a:ext cx="3226526" cy="53035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411480" y="3236976"/>
            <a:ext cx="300653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④ Row Count (audit)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274320" y="3867912"/>
            <a:ext cx="3226526" cy="530352"/>
          </a:xfrm>
          <a:prstGeom prst="rect">
            <a:avLst/>
          </a:prstGeom>
          <a:solidFill>
            <a:srgbClr val="E8F4F8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411480" y="3895344"/>
            <a:ext cx="3006536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⑤ OLE DB Destination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9332" y="3054096"/>
            <a:ext cx="3329396" cy="175069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89" name="Google Shape;18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7710" y="890233"/>
            <a:ext cx="4654810" cy="200514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Transform – Stage réteg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274320" y="822960"/>
            <a:ext cx="5303520" cy="2743200"/>
          </a:xfrm>
          <a:prstGeom prst="rect">
            <a:avLst/>
          </a:prstGeom>
          <a:solidFill>
            <a:srgbClr val="1E293B"/>
          </a:solidFill>
          <a:ln w="1905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411480" y="886968"/>
            <a:ext cx="502920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-- Típuskonverzió példa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TRY_CONVERT(INT, InvoiceID)        AS InvoiceID,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TRY_CONVERT(DATE, InvoiceDate)     AS InvoiceDate,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TRY_CONVERT(DECIMAL(18,2), UnitPrice)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AS UnitPrice,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NULLIF(NULLIF(CustomerName,''),'NULL')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AS CustomerName,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CASE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  WHEN TRY_CONVERT(INT,InvoiceID) IS NULL THEN 0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  ELSE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  END AS IsValid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FROM WWI_RAW.dbo.STA_Invoices;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852160" y="822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Konverzió logika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852160" y="1234440"/>
            <a:ext cx="3017520" cy="685800"/>
          </a:xfrm>
          <a:prstGeom prst="rect">
            <a:avLst/>
          </a:prstGeom>
          <a:solidFill>
            <a:srgbClr val="E8F4F8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5989320" y="12618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TRY_CONVERT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5989320" y="151790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Biztonságos típusváltás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hiba helyett NULL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852160" y="2011680"/>
            <a:ext cx="3017520" cy="685800"/>
          </a:xfrm>
          <a:prstGeom prst="rect">
            <a:avLst/>
          </a:prstGeom>
          <a:solidFill>
            <a:srgbClr val="E8F4F8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989320" y="20391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NULLIF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5989320" y="229514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Üres string és 'NULL'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szöveg → NULL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5852160" y="2837253"/>
            <a:ext cx="3017520" cy="685800"/>
          </a:xfrm>
          <a:prstGeom prst="rect">
            <a:avLst/>
          </a:prstGeom>
          <a:solidFill>
            <a:srgbClr val="E8F4F8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5989320" y="2864685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LoadNumber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5989320" y="308544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Betöltési azonosító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végigkíséri az adatot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8F4F8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1221377" y="4654296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✔  TRUNCATE előtt minden futáshoz  |  ✔  Azonos szerkezet mind a 15 táblára  |  ✔  Audit log minden tábláról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529046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Transform – Stage réteg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621" y="1232489"/>
            <a:ext cx="5191363" cy="2811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7026" y="1232489"/>
            <a:ext cx="3057525" cy="281191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5"/>
          <p:cNvSpPr txBox="1"/>
          <p:nvPr/>
        </p:nvSpPr>
        <p:spPr>
          <a:xfrm>
            <a:off x="0" y="762073"/>
            <a:ext cx="35632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réteg: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5493657" y="762074"/>
            <a:ext cx="35632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Invoices Data flow a Stage rétegben: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DWH – Historizálás &amp; SCD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SCD stratégiák dimenzióként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6"/>
          <p:cNvGraphicFramePr/>
          <p:nvPr/>
        </p:nvGraphicFramePr>
        <p:xfrm>
          <a:off x="274320" y="1188720"/>
          <a:ext cx="8595350" cy="3291925"/>
        </p:xfrm>
        <a:graphic>
          <a:graphicData uri="http://schemas.openxmlformats.org/drawingml/2006/table">
            <a:tbl>
              <a:tblPr>
                <a:noFill/>
                <a:tableStyleId>{869A34DA-999A-47F8-A419-A1E3F1B22A46}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Dimenzió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SCD típus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Indok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DimCustomer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SCD1 + SCD2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Cím/kategória változás historizálva, technikai mezők felülírva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DimProduct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SCD1 + SCD2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Termékjellemzők historizálva, ár/adó azonnal frissítve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DimSalesperson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SCD2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Névváltozás + státusz teljes historikus követés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DimDeliveryMethod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SCD1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Csak megnevezés változhat – korábbi adat nem kritikus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DimCity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SCD1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Földrajzi adat globálisan frissítve, történetiség nélkül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FactSales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SCD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Tranzakciós adat – csak INSERT, soha nem módosul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ADCF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0" name="Google Shape;230;p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E8F4F8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Aktív rekord: ValidTo IS NULL  |  Lezárt rekord: ValidTo = DATEADD(DAY,-1,GETDATE())  |  Új sor: ValidFrom = GETDATE()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15" y="1047890"/>
            <a:ext cx="3108552" cy="304771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DWH – Historizálás &amp; SCD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0" y="685800"/>
            <a:ext cx="35632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DimCostumer SCD kialakítása View-vel:</a:t>
            </a:r>
            <a:endParaRPr/>
          </a:p>
        </p:txBody>
      </p:sp>
      <p:pic>
        <p:nvPicPr>
          <p:cNvPr id="240" name="Google Shape;24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3257" y="993577"/>
            <a:ext cx="5406572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7"/>
          <p:cNvSpPr txBox="1"/>
          <p:nvPr/>
        </p:nvSpPr>
        <p:spPr>
          <a:xfrm>
            <a:off x="3497943" y="648673"/>
            <a:ext cx="35632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DWH réteg: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Mart töltési logika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274320" y="822960"/>
            <a:ext cx="4114800" cy="3749040"/>
          </a:xfrm>
          <a:prstGeom prst="rect">
            <a:avLst/>
          </a:prstGeom>
          <a:solidFill>
            <a:srgbClr val="E8F4F8"/>
          </a:solidFill>
          <a:ln w="1905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274320" y="822960"/>
            <a:ext cx="4114800" cy="438912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274320" y="82296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 táblák – MERGE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11480" y="1325880"/>
            <a:ext cx="384048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Forrás: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DWH aktuális rekordok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(ValidTo Is ‚9999-12-31’)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MATCHED AND változás</a:t>
            </a:r>
            <a:b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UPDATE (SCD1 felülírás)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NOT MATCHED</a:t>
            </a:r>
            <a:b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INSERT (új rekord)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Sorrend fontos!</a:t>
            </a:r>
            <a:br>
              <a:rPr lang="en-US" sz="1150" b="1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Dim táblák ELŐBB, Fact UTÁNA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(surrogate key feloldás miatt)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754880" y="822960"/>
            <a:ext cx="4114800" cy="3749040"/>
          </a:xfrm>
          <a:prstGeom prst="rect">
            <a:avLst/>
          </a:prstGeom>
          <a:solidFill>
            <a:srgbClr val="E8F4F8"/>
          </a:solidFill>
          <a:ln w="1905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754880" y="822960"/>
            <a:ext cx="4114800" cy="438912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754880" y="82296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FactSales – Increment INSERT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892040" y="1325880"/>
            <a:ext cx="384048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Forrás: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DWH.FactSales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Logika:</a:t>
            </a:r>
            <a:b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LEFT JOIN DM.FactSales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DM.InvoiceLineID IS NULL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Csak az új sorok INSERT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JOIN-ok:</a:t>
            </a:r>
            <a:b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DWH business key-ek →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DM surrogate key-ek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(DimCustomerID, DimProductID,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DimSalespersonID, stb.)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5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Tranzakció soha nem módosul!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4975" y="938213"/>
            <a:ext cx="573405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Mart réteg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00_Master Package – Vezérlési logika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74320" y="1280160"/>
            <a:ext cx="1463040" cy="1005840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74320" y="128016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Next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LoadNumber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737360" y="1719072"/>
            <a:ext cx="274320" cy="54864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2011680" y="1280160"/>
            <a:ext cx="1463040" cy="100584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011680" y="128016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01_RAW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474720" y="1719072"/>
            <a:ext cx="274320" cy="54864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749040" y="1280160"/>
            <a:ext cx="1463040" cy="100584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749040" y="128016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02_Stage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212080" y="1719072"/>
            <a:ext cx="274320" cy="54864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486400" y="1280160"/>
            <a:ext cx="1463040" cy="1005840"/>
          </a:xfrm>
          <a:prstGeom prst="rect">
            <a:avLst/>
          </a:prstGeom>
          <a:solidFill>
            <a:srgbClr val="065A82"/>
          </a:solidFill>
          <a:ln w="12700" cap="flat" cmpd="sng">
            <a:solidFill>
              <a:srgbClr val="065A8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486400" y="128016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03_DWH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Historizálás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949440" y="1719072"/>
            <a:ext cx="274320" cy="54864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223760" y="1280160"/>
            <a:ext cx="1463040" cy="1005840"/>
          </a:xfrm>
          <a:prstGeom prst="rect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7223760" y="128016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04_DM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274320" y="2514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Főbb jellemzők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74320" y="2926080"/>
            <a:ext cx="8595360" cy="36576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11480" y="295351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🔢  Egységes LoadNumber végigkíséri az összes adatot minden rétegen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274320" y="3337560"/>
            <a:ext cx="859536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11480" y="336499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⛓️  Szigorú sorrendiség – hiba esetén a teljes folyamat leáll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11480" y="377647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📋  Audit logging: minden táblánál sor count, start/end timestamp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11480" y="418795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🔄  Sequence Container-ek: logikai láncok a függőségek kezeléséhez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E8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11480" y="459943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✅  ValidTo szűrés: csak érvényes sorok kerülnek a DWH-ba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bb5a1e7c5_0_33"/>
          <p:cNvSpPr/>
          <p:nvPr/>
        </p:nvSpPr>
        <p:spPr>
          <a:xfrm>
            <a:off x="640015" y="381907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Vizualizáció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dbb5a1e7c5_0_33"/>
          <p:cNvSpPr/>
          <p:nvPr/>
        </p:nvSpPr>
        <p:spPr>
          <a:xfrm>
            <a:off x="640025" y="930550"/>
            <a:ext cx="73152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Adatvizualizáció célja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dbb5a1e7c5_0_33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dbb5a1e7c5_0_33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5" name="Google Shape;305;g3dbb5a1e7c5_0_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600" y="1565187"/>
            <a:ext cx="3012000" cy="91583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dbb5a1e7c5_0_33"/>
          <p:cNvSpPr txBox="1"/>
          <p:nvPr/>
        </p:nvSpPr>
        <p:spPr>
          <a:xfrm>
            <a:off x="890250" y="1687757"/>
            <a:ext cx="211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💡</a:t>
            </a: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Információ-átalakítás</a:t>
            </a:r>
            <a:endParaRPr sz="1100"/>
          </a:p>
        </p:txBody>
      </p:sp>
      <p:sp>
        <p:nvSpPr>
          <p:cNvPr id="307" name="Google Shape;307;g3dbb5a1e7c5_0_33"/>
          <p:cNvSpPr txBox="1"/>
          <p:nvPr/>
        </p:nvSpPr>
        <p:spPr>
          <a:xfrm>
            <a:off x="932825" y="1939009"/>
            <a:ext cx="2971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Adatok vizuális formába rendezése, hogy könnyen értelmezhető információt adjon.</a:t>
            </a:r>
            <a:endParaRPr sz="1100"/>
          </a:p>
        </p:txBody>
      </p:sp>
      <p:pic>
        <p:nvPicPr>
          <p:cNvPr id="308" name="Google Shape;308;g3dbb5a1e7c5_0_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0775" y="1565188"/>
            <a:ext cx="3012000" cy="91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dbb5a1e7c5_0_33"/>
          <p:cNvSpPr txBox="1"/>
          <p:nvPr/>
        </p:nvSpPr>
        <p:spPr>
          <a:xfrm>
            <a:off x="5236000" y="1687750"/>
            <a:ext cx="187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🔎Összefüggések</a:t>
            </a:r>
            <a:endParaRPr sz="1100"/>
          </a:p>
        </p:txBody>
      </p:sp>
      <p:sp>
        <p:nvSpPr>
          <p:cNvPr id="310" name="Google Shape;310;g3dbb5a1e7c5_0_33"/>
          <p:cNvSpPr txBox="1"/>
          <p:nvPr/>
        </p:nvSpPr>
        <p:spPr>
          <a:xfrm>
            <a:off x="5236000" y="1926825"/>
            <a:ext cx="28668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Trendek, mintázatok és eltérések gyors azonosítása különböző dimenziók mentén.</a:t>
            </a:r>
            <a:endParaRPr sz="1100"/>
          </a:p>
        </p:txBody>
      </p:sp>
      <p:pic>
        <p:nvPicPr>
          <p:cNvPr id="311" name="Google Shape;311;g3dbb5a1e7c5_0_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9438" y="2810550"/>
            <a:ext cx="3012000" cy="93513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dbb5a1e7c5_0_33"/>
          <p:cNvSpPr txBox="1"/>
          <p:nvPr/>
        </p:nvSpPr>
        <p:spPr>
          <a:xfrm>
            <a:off x="3124663" y="2933125"/>
            <a:ext cx="187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📈Döntés támogatás</a:t>
            </a:r>
            <a:endParaRPr sz="1100"/>
          </a:p>
        </p:txBody>
      </p:sp>
      <p:sp>
        <p:nvSpPr>
          <p:cNvPr id="313" name="Google Shape;313;g3dbb5a1e7c5_0_33"/>
          <p:cNvSpPr txBox="1"/>
          <p:nvPr/>
        </p:nvSpPr>
        <p:spPr>
          <a:xfrm>
            <a:off x="3124663" y="3192250"/>
            <a:ext cx="28668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Trendek, mintázatok és eltérések gyors azonosítása különböző dimenziók mentén.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bb975c30d_0_61"/>
          <p:cNvSpPr/>
          <p:nvPr/>
        </p:nvSpPr>
        <p:spPr>
          <a:xfrm>
            <a:off x="640015" y="381907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Vizualizáció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dbb975c30d_0_61"/>
          <p:cNvSpPr/>
          <p:nvPr/>
        </p:nvSpPr>
        <p:spPr>
          <a:xfrm>
            <a:off x="640025" y="930550"/>
            <a:ext cx="73152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Időbeli teljesítményelemzés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dbb975c30d_0_61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dbb975c30d_0_61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3" name="Google Shape;323;g3dbb975c30d_0_6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25" y="1374675"/>
            <a:ext cx="2637152" cy="8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dbb975c30d_0_61"/>
          <p:cNvSpPr txBox="1"/>
          <p:nvPr/>
        </p:nvSpPr>
        <p:spPr>
          <a:xfrm>
            <a:off x="729900" y="1481993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Idősor elemzés</a:t>
            </a:r>
            <a:endParaRPr sz="963"/>
          </a:p>
        </p:txBody>
      </p:sp>
      <p:sp>
        <p:nvSpPr>
          <p:cNvPr id="325" name="Google Shape;325;g3dbb975c30d_0_61"/>
          <p:cNvSpPr txBox="1"/>
          <p:nvPr/>
        </p:nvSpPr>
        <p:spPr>
          <a:xfrm>
            <a:off x="727700" y="1701975"/>
            <a:ext cx="2461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Az árbevétel változása követhető éves, negyedéves és havi bontásban a vonaldiagramon.</a:t>
            </a:r>
            <a:endParaRPr sz="963"/>
          </a:p>
        </p:txBody>
      </p:sp>
      <p:pic>
        <p:nvPicPr>
          <p:cNvPr id="326" name="Google Shape;326;g3dbb975c30d_0_61" title="Képernyőkép 2026-04-22 1226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025" y="1235662"/>
            <a:ext cx="5082450" cy="2870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dbb975c30d_0_6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25" y="2419575"/>
            <a:ext cx="2637150" cy="9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dbb975c30d_0_61"/>
          <p:cNvSpPr txBox="1"/>
          <p:nvPr/>
        </p:nvSpPr>
        <p:spPr>
          <a:xfrm>
            <a:off x="729900" y="2526893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Vizuális kódolás</a:t>
            </a:r>
            <a:endParaRPr sz="963"/>
          </a:p>
        </p:txBody>
      </p:sp>
      <p:sp>
        <p:nvSpPr>
          <p:cNvPr id="329" name="Google Shape;329;g3dbb975c30d_0_61"/>
          <p:cNvSpPr txBox="1"/>
          <p:nvPr/>
        </p:nvSpPr>
        <p:spPr>
          <a:xfrm>
            <a:off x="727700" y="2746875"/>
            <a:ext cx="24618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mátrix vizualizációban használt feltételes formázás azonnal rávilágít a gyengébb és erősebb időszakokra.</a:t>
            </a:r>
            <a:endParaRPr sz="963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bb975c30d_0_82"/>
          <p:cNvSpPr/>
          <p:nvPr/>
        </p:nvSpPr>
        <p:spPr>
          <a:xfrm>
            <a:off x="640015" y="381907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Vizualizáció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dbb975c30d_0_82"/>
          <p:cNvSpPr/>
          <p:nvPr/>
        </p:nvSpPr>
        <p:spPr>
          <a:xfrm>
            <a:off x="640025" y="930550"/>
            <a:ext cx="73152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Geográfiai értékesítési adatok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dbb975c30d_0_82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3dbb975c30d_0_82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9" name="Google Shape;339;g3dbb975c30d_0_8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7050" y="1321538"/>
            <a:ext cx="2637152" cy="8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dbb975c30d_0_82"/>
          <p:cNvSpPr txBox="1"/>
          <p:nvPr/>
        </p:nvSpPr>
        <p:spPr>
          <a:xfrm>
            <a:off x="5856925" y="1428856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Területi megoszlás</a:t>
            </a:r>
            <a:endParaRPr sz="963"/>
          </a:p>
        </p:txBody>
      </p:sp>
      <p:sp>
        <p:nvSpPr>
          <p:cNvPr id="341" name="Google Shape;341;g3dbb975c30d_0_82"/>
          <p:cNvSpPr txBox="1"/>
          <p:nvPr/>
        </p:nvSpPr>
        <p:spPr>
          <a:xfrm>
            <a:off x="5854725" y="1648838"/>
            <a:ext cx="2461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Interaktív térképes vizualizáció, ország, állam és város szintű adatokkal</a:t>
            </a:r>
            <a:endParaRPr sz="963"/>
          </a:p>
        </p:txBody>
      </p:sp>
      <p:pic>
        <p:nvPicPr>
          <p:cNvPr id="342" name="Google Shape;342;g3dbb975c30d_0_82" title="Képernyőkép 2026-04-27 1906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25" y="1321550"/>
            <a:ext cx="4674798" cy="277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dbb975c30d_0_8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7050" y="2252425"/>
            <a:ext cx="2637150" cy="94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dbb975c30d_0_82"/>
          <p:cNvSpPr txBox="1"/>
          <p:nvPr/>
        </p:nvSpPr>
        <p:spPr>
          <a:xfrm>
            <a:off x="5856925" y="2359731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Dinamikus szűrés</a:t>
            </a:r>
            <a:endParaRPr sz="963"/>
          </a:p>
        </p:txBody>
      </p:sp>
      <p:sp>
        <p:nvSpPr>
          <p:cNvPr id="345" name="Google Shape;345;g3dbb975c30d_0_82"/>
          <p:cNvSpPr txBox="1"/>
          <p:nvPr/>
        </p:nvSpPr>
        <p:spPr>
          <a:xfrm>
            <a:off x="5854725" y="2579713"/>
            <a:ext cx="24618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Szeletelők alkalmazásával dinamikusan szűrhetőek a megjelenített adatok, állam és értékesítési terület alapján.</a:t>
            </a:r>
            <a:endParaRPr sz="963"/>
          </a:p>
        </p:txBody>
      </p:sp>
      <p:pic>
        <p:nvPicPr>
          <p:cNvPr id="346" name="Google Shape;346;g3dbb975c30d_0_8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7050" y="3329975"/>
            <a:ext cx="2637150" cy="94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dbb975c30d_0_82"/>
          <p:cNvSpPr txBox="1"/>
          <p:nvPr/>
        </p:nvSpPr>
        <p:spPr>
          <a:xfrm>
            <a:off x="5856925" y="3437301"/>
            <a:ext cx="2120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Vizuális megkülönböztetés</a:t>
            </a:r>
            <a:endParaRPr sz="963"/>
          </a:p>
        </p:txBody>
      </p:sp>
      <p:sp>
        <p:nvSpPr>
          <p:cNvPr id="348" name="Google Shape;348;g3dbb975c30d_0_82"/>
          <p:cNvSpPr txBox="1"/>
          <p:nvPr/>
        </p:nvSpPr>
        <p:spPr>
          <a:xfrm>
            <a:off x="5854725" y="3657275"/>
            <a:ext cx="24618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színek az értékesítési régiók elkülönítésére szolgálnak, míg az adatpontok sűrűsége az aktivitás intenzitását jelzi.</a:t>
            </a:r>
            <a:endParaRPr sz="963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bb975c30d_0_104"/>
          <p:cNvSpPr/>
          <p:nvPr/>
        </p:nvSpPr>
        <p:spPr>
          <a:xfrm>
            <a:off x="640015" y="381907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Vizualizáció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dbb975c30d_0_104"/>
          <p:cNvSpPr/>
          <p:nvPr/>
        </p:nvSpPr>
        <p:spPr>
          <a:xfrm>
            <a:off x="640025" y="930550"/>
            <a:ext cx="73152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Értékesítők hatékonysága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dbb975c30d_0_104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dbb975c30d_0_104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8" name="Google Shape;358;g3dbb975c30d_0_10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25" y="1374675"/>
            <a:ext cx="2637152" cy="8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dbb975c30d_0_104"/>
          <p:cNvSpPr txBox="1"/>
          <p:nvPr/>
        </p:nvSpPr>
        <p:spPr>
          <a:xfrm>
            <a:off x="729900" y="1481993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Összehasonlítás</a:t>
            </a:r>
            <a:endParaRPr sz="963"/>
          </a:p>
        </p:txBody>
      </p:sp>
      <p:sp>
        <p:nvSpPr>
          <p:cNvPr id="360" name="Google Shape;360;g3dbb975c30d_0_104"/>
          <p:cNvSpPr txBox="1"/>
          <p:nvPr/>
        </p:nvSpPr>
        <p:spPr>
          <a:xfrm>
            <a:off x="727700" y="1701975"/>
            <a:ext cx="2461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Könnyedén összehasonlíthatóak az értékesítők teljesítménye.</a:t>
            </a:r>
            <a:endParaRPr sz="963"/>
          </a:p>
        </p:txBody>
      </p:sp>
      <p:pic>
        <p:nvPicPr>
          <p:cNvPr id="361" name="Google Shape;361;g3dbb975c30d_0_10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25" y="2329575"/>
            <a:ext cx="2637150" cy="9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dbb975c30d_0_104"/>
          <p:cNvSpPr txBox="1"/>
          <p:nvPr/>
        </p:nvSpPr>
        <p:spPr>
          <a:xfrm>
            <a:off x="729900" y="2436893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Egyéni dinamika</a:t>
            </a:r>
            <a:endParaRPr sz="963"/>
          </a:p>
        </p:txBody>
      </p:sp>
      <p:sp>
        <p:nvSpPr>
          <p:cNvPr id="363" name="Google Shape;363;g3dbb975c30d_0_104"/>
          <p:cNvSpPr txBox="1"/>
          <p:nvPr/>
        </p:nvSpPr>
        <p:spPr>
          <a:xfrm>
            <a:off x="727700" y="2656875"/>
            <a:ext cx="24618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Lehetőség van egy adott értékesítő kiválasztására, hogy lássuk saját teljesítményének időbeli alakulását.</a:t>
            </a:r>
            <a:endParaRPr sz="963"/>
          </a:p>
        </p:txBody>
      </p:sp>
      <p:pic>
        <p:nvPicPr>
          <p:cNvPr id="364" name="Google Shape;364;g3dbb975c30d_0_10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25" y="3391800"/>
            <a:ext cx="2637150" cy="11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dbb975c30d_0_104"/>
          <p:cNvSpPr txBox="1"/>
          <p:nvPr/>
        </p:nvSpPr>
        <p:spPr>
          <a:xfrm>
            <a:off x="729900" y="3499118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Teljesítmény szélsőségek</a:t>
            </a:r>
            <a:endParaRPr sz="963"/>
          </a:p>
        </p:txBody>
      </p:sp>
      <p:sp>
        <p:nvSpPr>
          <p:cNvPr id="366" name="Google Shape;366;g3dbb975c30d_0_104"/>
          <p:cNvSpPr txBox="1"/>
          <p:nvPr/>
        </p:nvSpPr>
        <p:spPr>
          <a:xfrm>
            <a:off x="727700" y="3719100"/>
            <a:ext cx="24618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pont diagram rávilágít az egységnyi tranzakcióra jutó árbevételre. Segítségével látható, ki az, aki kiemelkedő hatékonysággal értékesít, és ki az akinek a munkája alacsonyabb megtérülést mutat.</a:t>
            </a:r>
            <a:endParaRPr sz="963"/>
          </a:p>
        </p:txBody>
      </p:sp>
      <p:pic>
        <p:nvPicPr>
          <p:cNvPr id="367" name="Google Shape;367;g3dbb975c30d_0_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4675" y="1285875"/>
            <a:ext cx="5194574" cy="30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bb975c30d_0_150"/>
          <p:cNvSpPr/>
          <p:nvPr/>
        </p:nvSpPr>
        <p:spPr>
          <a:xfrm>
            <a:off x="640015" y="381907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Vizualizáció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dbb975c30d_0_150"/>
          <p:cNvSpPr/>
          <p:nvPr/>
        </p:nvSpPr>
        <p:spPr>
          <a:xfrm>
            <a:off x="640025" y="930550"/>
            <a:ext cx="73152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Értékesítési ciklusok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dbb975c30d_0_150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dbb975c30d_0_150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7" name="Google Shape;377;g3dbb975c30d_0_150" title="Képernyőkép 2026-04-27 2314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25" y="1280850"/>
            <a:ext cx="4332475" cy="304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dbb975c30d_0_1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075" y="1379950"/>
            <a:ext cx="2637150" cy="77466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dbb975c30d_0_150"/>
          <p:cNvSpPr txBox="1"/>
          <p:nvPr/>
        </p:nvSpPr>
        <p:spPr>
          <a:xfrm>
            <a:off x="5407950" y="1487268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Prediktív analitika</a:t>
            </a:r>
            <a:endParaRPr sz="963"/>
          </a:p>
        </p:txBody>
      </p:sp>
      <p:sp>
        <p:nvSpPr>
          <p:cNvPr id="380" name="Google Shape;380;g3dbb975c30d_0_150"/>
          <p:cNvSpPr txBox="1"/>
          <p:nvPr/>
        </p:nvSpPr>
        <p:spPr>
          <a:xfrm>
            <a:off x="5405750" y="1707250"/>
            <a:ext cx="2461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vonal diagramba integrált előrejelzési funkciók alkalmazása segít a jövőbeli kereslet becslésében.</a:t>
            </a:r>
            <a:endParaRPr sz="963"/>
          </a:p>
        </p:txBody>
      </p:sp>
      <p:pic>
        <p:nvPicPr>
          <p:cNvPr id="381" name="Google Shape;381;g3dbb975c30d_0_1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075" y="2290100"/>
            <a:ext cx="2637150" cy="77466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dbb975c30d_0_150"/>
          <p:cNvSpPr txBox="1"/>
          <p:nvPr/>
        </p:nvSpPr>
        <p:spPr>
          <a:xfrm>
            <a:off x="5407950" y="2397418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Intenzitás vizualizálása</a:t>
            </a:r>
            <a:endParaRPr sz="963"/>
          </a:p>
        </p:txBody>
      </p:sp>
      <p:sp>
        <p:nvSpPr>
          <p:cNvPr id="383" name="Google Shape;383;g3dbb975c30d_0_150"/>
          <p:cNvSpPr txBox="1"/>
          <p:nvPr/>
        </p:nvSpPr>
        <p:spPr>
          <a:xfrm>
            <a:off x="5405750" y="2617400"/>
            <a:ext cx="2461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szabályalapú feltételes formázás használata mátrix vizualizáción kiemeli az erősebb időszakokat.</a:t>
            </a:r>
            <a:endParaRPr sz="963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bb975c30d_0_195"/>
          <p:cNvSpPr/>
          <p:nvPr/>
        </p:nvSpPr>
        <p:spPr>
          <a:xfrm>
            <a:off x="640015" y="381907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Vizualizáció</a:t>
            </a:r>
            <a:endParaRPr sz="32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dbb975c30d_0_195"/>
          <p:cNvSpPr/>
          <p:nvPr/>
        </p:nvSpPr>
        <p:spPr>
          <a:xfrm>
            <a:off x="640025" y="930550"/>
            <a:ext cx="73152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Termék és profitabilitás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dbb975c30d_0_195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dbb975c30d_0_195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3" name="Google Shape;393;g3dbb975c30d_0_195" title="Képernyőkép 2026-04-22 1333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577" y="1388050"/>
            <a:ext cx="5562024" cy="293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dbb975c30d_0_19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575" y="1487600"/>
            <a:ext cx="2637150" cy="9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dbb975c30d_0_195"/>
          <p:cNvSpPr txBox="1"/>
          <p:nvPr/>
        </p:nvSpPr>
        <p:spPr>
          <a:xfrm>
            <a:off x="615450" y="1594918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Duális metrika</a:t>
            </a:r>
            <a:endParaRPr sz="963"/>
          </a:p>
        </p:txBody>
      </p:sp>
      <p:sp>
        <p:nvSpPr>
          <p:cNvPr id="396" name="Google Shape;396;g3dbb975c30d_0_195"/>
          <p:cNvSpPr txBox="1"/>
          <p:nvPr/>
        </p:nvSpPr>
        <p:spPr>
          <a:xfrm>
            <a:off x="613250" y="1814900"/>
            <a:ext cx="24618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bevétel és a profit adatok azonos tengelyen való megjelenítése lehetővé teszi az árrés azonnali, vizuális összevetését.</a:t>
            </a:r>
            <a:endParaRPr sz="963"/>
          </a:p>
        </p:txBody>
      </p:sp>
      <p:pic>
        <p:nvPicPr>
          <p:cNvPr id="397" name="Google Shape;397;g3dbb975c30d_0_19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575" y="2570000"/>
            <a:ext cx="2637150" cy="77466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dbb975c30d_0_195"/>
          <p:cNvSpPr txBox="1"/>
          <p:nvPr/>
        </p:nvSpPr>
        <p:spPr>
          <a:xfrm>
            <a:off x="615450" y="2677318"/>
            <a:ext cx="1848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1" b="1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Jövdelmezőség</a:t>
            </a:r>
            <a:endParaRPr sz="963"/>
          </a:p>
        </p:txBody>
      </p:sp>
      <p:sp>
        <p:nvSpPr>
          <p:cNvPr id="399" name="Google Shape;399;g3dbb975c30d_0_195"/>
          <p:cNvSpPr txBox="1"/>
          <p:nvPr/>
        </p:nvSpPr>
        <p:spPr>
          <a:xfrm>
            <a:off x="613250" y="2897300"/>
            <a:ext cx="24618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vizualizáció rávilágít arra, hogy a magasabb árbevétel nem garantál magasabb profitot.</a:t>
            </a:r>
            <a:endParaRPr sz="854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bb975c30d_2_0"/>
          <p:cNvSpPr/>
          <p:nvPr/>
        </p:nvSpPr>
        <p:spPr>
          <a:xfrm>
            <a:off x="548640" y="27432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Scrum napló</a:t>
            </a:r>
            <a:endParaRPr sz="3200" b="0" i="0" u="none" strike="noStrike" cap="non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dbb975c30d_2_0"/>
          <p:cNvSpPr/>
          <p:nvPr/>
        </p:nvSpPr>
        <p:spPr>
          <a:xfrm>
            <a:off x="548640" y="82296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Csapatmunka és munkaszervezés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dbb975c30d_2_0"/>
          <p:cNvSpPr/>
          <p:nvPr/>
        </p:nvSpPr>
        <p:spPr>
          <a:xfrm>
            <a:off x="548640" y="1371600"/>
            <a:ext cx="4023300" cy="10059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dbb975c30d_2_0"/>
          <p:cNvSpPr/>
          <p:nvPr/>
        </p:nvSpPr>
        <p:spPr>
          <a:xfrm>
            <a:off x="548640" y="1371600"/>
            <a:ext cx="54900" cy="10059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3dbb975c30d_2_0"/>
          <p:cNvSpPr/>
          <p:nvPr/>
        </p:nvSpPr>
        <p:spPr>
          <a:xfrm>
            <a:off x="777240" y="1481328"/>
            <a:ext cx="731400" cy="2742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dbb975c30d_2_0"/>
          <p:cNvSpPr/>
          <p:nvPr/>
        </p:nvSpPr>
        <p:spPr>
          <a:xfrm>
            <a:off x="777240" y="1481328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fázis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dbb975c30d_2_0"/>
          <p:cNvSpPr/>
          <p:nvPr/>
        </p:nvSpPr>
        <p:spPr>
          <a:xfrm>
            <a:off x="1645920" y="144475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A202C"/>
              </a:buClr>
              <a:buSzPts val="1400"/>
            </a:pPr>
            <a:r>
              <a:rPr lang="en-US" sz="1400" b="1" i="0" u="none" strike="noStrike" cap="none" dirty="0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Use case </a:t>
            </a:r>
            <a:r>
              <a:rPr lang="hu-HU" sz="1400" b="1" i="0" u="none" strike="noStrike" cap="none" dirty="0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és </a:t>
            </a:r>
            <a:r>
              <a:rPr lang="en-US" sz="1400" b="1" i="0" u="none" strike="noStrike" cap="none" dirty="0" err="1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adatmodell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dbb975c30d_2_0"/>
          <p:cNvSpPr/>
          <p:nvPr/>
        </p:nvSpPr>
        <p:spPr>
          <a:xfrm>
            <a:off x="1645920" y="178308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Üzleti kérdések meghatározása,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dimenzionális modell tervezése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g3dbb975c30d_2_0"/>
          <p:cNvCxnSpPr/>
          <p:nvPr/>
        </p:nvCxnSpPr>
        <p:spPr>
          <a:xfrm>
            <a:off x="2560320" y="2377440"/>
            <a:ext cx="0" cy="137100"/>
          </a:xfrm>
          <a:prstGeom prst="straightConnector1">
            <a:avLst/>
          </a:prstGeom>
          <a:noFill/>
          <a:ln w="25400" cap="flat" cmpd="sng">
            <a:solidFill>
              <a:srgbClr val="38B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4" name="Google Shape;414;g3dbb975c30d_2_0"/>
          <p:cNvSpPr/>
          <p:nvPr/>
        </p:nvSpPr>
        <p:spPr>
          <a:xfrm>
            <a:off x="548640" y="2514600"/>
            <a:ext cx="4023300" cy="10059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3dbb975c30d_2_0"/>
          <p:cNvSpPr/>
          <p:nvPr/>
        </p:nvSpPr>
        <p:spPr>
          <a:xfrm>
            <a:off x="548640" y="2514600"/>
            <a:ext cx="54900" cy="10059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dbb975c30d_2_0"/>
          <p:cNvSpPr/>
          <p:nvPr/>
        </p:nvSpPr>
        <p:spPr>
          <a:xfrm>
            <a:off x="777240" y="2624328"/>
            <a:ext cx="731400" cy="274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3dbb975c30d_2_0"/>
          <p:cNvSpPr/>
          <p:nvPr/>
        </p:nvSpPr>
        <p:spPr>
          <a:xfrm>
            <a:off x="777240" y="2624328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fázis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dbb975c30d_2_0"/>
          <p:cNvSpPr/>
          <p:nvPr/>
        </p:nvSpPr>
        <p:spPr>
          <a:xfrm>
            <a:off x="1645920" y="258775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ETL rétegek kialakítása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dbb975c30d_2_0"/>
          <p:cNvSpPr/>
          <p:nvPr/>
        </p:nvSpPr>
        <p:spPr>
          <a:xfrm>
            <a:off x="1645920" y="292608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RAW → STA → DWH adatbetöltési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folyamatok megírása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g3dbb975c30d_2_0"/>
          <p:cNvCxnSpPr/>
          <p:nvPr/>
        </p:nvCxnSpPr>
        <p:spPr>
          <a:xfrm>
            <a:off x="2560320" y="3520440"/>
            <a:ext cx="0" cy="137100"/>
          </a:xfrm>
          <a:prstGeom prst="straightConnector1">
            <a:avLst/>
          </a:prstGeom>
          <a:noFill/>
          <a:ln w="25400" cap="flat" cmpd="sng">
            <a:solidFill>
              <a:srgbClr val="38B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1" name="Google Shape;421;g3dbb975c30d_2_0"/>
          <p:cNvSpPr/>
          <p:nvPr/>
        </p:nvSpPr>
        <p:spPr>
          <a:xfrm>
            <a:off x="548640" y="3657600"/>
            <a:ext cx="4023300" cy="100590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dbb975c30d_2_0"/>
          <p:cNvSpPr/>
          <p:nvPr/>
        </p:nvSpPr>
        <p:spPr>
          <a:xfrm>
            <a:off x="548640" y="3657600"/>
            <a:ext cx="54900" cy="10059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3dbb975c30d_2_0"/>
          <p:cNvSpPr/>
          <p:nvPr/>
        </p:nvSpPr>
        <p:spPr>
          <a:xfrm>
            <a:off x="777240" y="3767328"/>
            <a:ext cx="731400" cy="2742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3dbb975c30d_2_0"/>
          <p:cNvSpPr/>
          <p:nvPr/>
        </p:nvSpPr>
        <p:spPr>
          <a:xfrm>
            <a:off x="777240" y="3767328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fázis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dbb975c30d_2_0"/>
          <p:cNvSpPr/>
          <p:nvPr/>
        </p:nvSpPr>
        <p:spPr>
          <a:xfrm>
            <a:off x="1645920" y="373075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Riportok – Power BI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dbb975c30d_2_0"/>
          <p:cNvSpPr/>
          <p:nvPr/>
        </p:nvSpPr>
        <p:spPr>
          <a:xfrm>
            <a:off x="1645920" y="406908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Vizualizációk és dashboardok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készítése a DWH alapján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dbb975c30d_2_0"/>
          <p:cNvSpPr/>
          <p:nvPr/>
        </p:nvSpPr>
        <p:spPr>
          <a:xfrm>
            <a:off x="4937760" y="1371600"/>
            <a:ext cx="3749100" cy="3200400"/>
          </a:xfrm>
          <a:prstGeom prst="rect">
            <a:avLst/>
          </a:prstGeom>
          <a:solidFill>
            <a:srgbClr val="EBF8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8" name="Google Shape;428;g3dbb975c30d_2_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2080" y="1508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dbb975c30d_2_0"/>
          <p:cNvSpPr/>
          <p:nvPr/>
        </p:nvSpPr>
        <p:spPr>
          <a:xfrm>
            <a:off x="5669280" y="150876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Működési keretek</a:t>
            </a:r>
            <a:endParaRPr sz="1600" b="0" i="0" u="none" strike="noStrike" cap="non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dbb975c30d_2_0"/>
          <p:cNvSpPr/>
          <p:nvPr/>
        </p:nvSpPr>
        <p:spPr>
          <a:xfrm>
            <a:off x="5212080" y="201168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Heti rendszeres meetingek + szükség esetén rövid online egyeztetések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Az aktuális fázison dolgozó csapattag mutatta be az előrehaladást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Fő szerepkörök szerinti feladatmegosztás, de közös döntéshozatal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Szekvenciális felépítés → átadás és egyeztetés kiemelten fontos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dbb975c30d_2_0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g3dbb975c30d_2_0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b9e038d2d_0_171"/>
          <p:cNvSpPr/>
          <p:nvPr/>
        </p:nvSpPr>
        <p:spPr>
          <a:xfrm>
            <a:off x="54864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200" b="1" i="0" u="none" strike="noStrike" cap="none" dirty="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Scrum </a:t>
            </a:r>
            <a:r>
              <a:rPr lang="en-US" sz="3200" b="1" i="0" u="none" strike="noStrike" cap="none" dirty="0" err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napló</a:t>
            </a:r>
            <a:r>
              <a:rPr lang="en-US" sz="3200" b="1" i="0" u="none" strike="noStrike" cap="none" dirty="0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 – </a:t>
            </a:r>
            <a:r>
              <a:rPr lang="en-US" sz="3200" b="1" i="0" u="none" strike="noStrike" cap="none" dirty="0" err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Retrospektív</a:t>
            </a:r>
            <a:endParaRPr sz="3200" b="0" i="0" u="none" strike="noStrike" cap="none" dirty="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db9e038d2d_0_171"/>
          <p:cNvSpPr/>
          <p:nvPr/>
        </p:nvSpPr>
        <p:spPr>
          <a:xfrm>
            <a:off x="548640" y="1188720"/>
            <a:ext cx="3840600" cy="3200400"/>
          </a:xfrm>
          <a:prstGeom prst="rect">
            <a:avLst/>
          </a:prstGeom>
          <a:solidFill>
            <a:srgbClr val="F0FFF4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3db9e038d2d_0_171"/>
          <p:cNvSpPr/>
          <p:nvPr/>
        </p:nvSpPr>
        <p:spPr>
          <a:xfrm>
            <a:off x="548640" y="1188720"/>
            <a:ext cx="3840600" cy="549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1" name="Google Shape;441;g3db9e038d2d_0_17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db9e038d2d_0_171"/>
          <p:cNvSpPr/>
          <p:nvPr/>
        </p:nvSpPr>
        <p:spPr>
          <a:xfrm>
            <a:off x="1280160" y="137160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A169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38A169"/>
                </a:solidFill>
                <a:latin typeface="Trebuchet MS"/>
                <a:ea typeface="Trebuchet MS"/>
                <a:cs typeface="Trebuchet MS"/>
                <a:sym typeface="Trebuchet MS"/>
              </a:rPr>
              <a:t>Ami jól működött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db9e038d2d_0_171"/>
          <p:cNvSpPr/>
          <p:nvPr/>
        </p:nvSpPr>
        <p:spPr>
          <a:xfrm>
            <a:off x="822960" y="1920240"/>
            <a:ext cx="32919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Rendszeres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csapaton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belüli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kommunikáció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Mindenki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átlátta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feladatok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hatását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következő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lépésekre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Előrehaladás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bemutatása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meetingeken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az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aktuális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felelős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által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onfliktus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nem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alakult</a:t>
            </a:r>
            <a:r>
              <a:rPr lang="en-US" sz="11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ki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db9e038d2d_0_171"/>
          <p:cNvSpPr/>
          <p:nvPr/>
        </p:nvSpPr>
        <p:spPr>
          <a:xfrm>
            <a:off x="4754880" y="1188720"/>
            <a:ext cx="3840600" cy="3200400"/>
          </a:xfrm>
          <a:prstGeom prst="rect">
            <a:avLst/>
          </a:prstGeom>
          <a:solidFill>
            <a:srgbClr val="FFF5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g3db9e038d2d_0_171"/>
          <p:cNvSpPr/>
          <p:nvPr/>
        </p:nvSpPr>
        <p:spPr>
          <a:xfrm>
            <a:off x="4754880" y="1188720"/>
            <a:ext cx="3840600" cy="549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6" name="Google Shape;446;g3db9e038d2d_0_17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db9e038d2d_0_171"/>
          <p:cNvSpPr/>
          <p:nvPr/>
        </p:nvSpPr>
        <p:spPr>
          <a:xfrm>
            <a:off x="5486400" y="137160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E3E"/>
              </a:buClr>
              <a:buSzPts val="1800"/>
              <a:buFont typeface="Trebuchet MS"/>
              <a:buNone/>
            </a:pPr>
            <a:r>
              <a:rPr lang="en-US" sz="1800" b="1" i="0" u="none" strike="noStrike" cap="none" dirty="0" err="1">
                <a:solidFill>
                  <a:srgbClr val="E53E3E"/>
                </a:solidFill>
                <a:latin typeface="Trebuchet MS"/>
                <a:ea typeface="Trebuchet MS"/>
                <a:cs typeface="Trebuchet MS"/>
                <a:sym typeface="Trebuchet MS"/>
              </a:rPr>
              <a:t>Nehézségek</a:t>
            </a:r>
            <a:r>
              <a:rPr lang="en-US" sz="1800" b="1" i="0" u="none" strike="noStrike" cap="none" dirty="0">
                <a:solidFill>
                  <a:srgbClr val="E53E3E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hu-HU" sz="1800" b="1" i="0" u="none" strike="noStrike" cap="none" dirty="0">
                <a:solidFill>
                  <a:srgbClr val="E53E3E"/>
                </a:solidFill>
                <a:latin typeface="Trebuchet MS"/>
                <a:ea typeface="Trebuchet MS"/>
                <a:cs typeface="Trebuchet MS"/>
                <a:sym typeface="Trebuchet MS"/>
              </a:rPr>
              <a:t>és</a:t>
            </a:r>
            <a:r>
              <a:rPr lang="en-US" sz="1800" b="1" i="0" u="none" strike="noStrike" cap="none" dirty="0">
                <a:solidFill>
                  <a:srgbClr val="E53E3E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 b="1" i="0" u="none" strike="noStrike" cap="none" dirty="0" err="1">
                <a:solidFill>
                  <a:srgbClr val="E53E3E"/>
                </a:solidFill>
                <a:latin typeface="Trebuchet MS"/>
                <a:ea typeface="Trebuchet MS"/>
                <a:cs typeface="Trebuchet MS"/>
                <a:sym typeface="Trebuchet MS"/>
              </a:rPr>
              <a:t>megoldások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db9e038d2d_0_171"/>
          <p:cNvSpPr/>
          <p:nvPr/>
        </p:nvSpPr>
        <p:spPr>
          <a:xfrm>
            <a:off x="5029200" y="1920240"/>
            <a:ext cx="32919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Egymásra épülő feladatok → várakozás a korábbi fázis befejezésére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Kisebb csúszások hatása a következő munkafázisra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Megoldás: rendszeres egyeztetés és állapotfrissítés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db9e038d2d_0_171"/>
          <p:cNvSpPr/>
          <p:nvPr/>
        </p:nvSpPr>
        <p:spPr>
          <a:xfrm>
            <a:off x="548655" y="447805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2AC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 scrum jellegű működés segítette a projekt átláthatóságát és a csapaton belüli együttműködést.</a:t>
            </a:r>
            <a:endParaRPr sz="1200" b="0" i="0" u="none" strike="noStrike" cap="non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db9e038d2d_0_171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g3db9e038d2d_0_171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b9e038d2d_0_194"/>
          <p:cNvSpPr/>
          <p:nvPr/>
        </p:nvSpPr>
        <p:spPr>
          <a:xfrm>
            <a:off x="0" y="225165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Trebuchet MS"/>
              <a:buNone/>
            </a:pPr>
            <a:r>
              <a:rPr lang="en-US" sz="3600" b="1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Köszönjük a figyelmet!</a:t>
            </a:r>
            <a:endParaRPr sz="3600" b="0" i="0" u="none" strike="noStrike" cap="non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db9e038d2d_0_194"/>
          <p:cNvSpPr/>
          <p:nvPr/>
        </p:nvSpPr>
        <p:spPr>
          <a:xfrm>
            <a:off x="0" y="493890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3db9e038d2d_0_194"/>
          <p:cNvSpPr/>
          <p:nvPr/>
        </p:nvSpPr>
        <p:spPr>
          <a:xfrm>
            <a:off x="0" y="0"/>
            <a:ext cx="9144000" cy="204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1371</Words>
  <Application>Microsoft Office PowerPoint</Application>
  <PresentationFormat>Diavetítés a képernyőre (16:9 oldalarány)</PresentationFormat>
  <Paragraphs>318</Paragraphs>
  <Slides>24</Slides>
  <Notes>24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31" baseType="lpstr">
      <vt:lpstr>Lato</vt:lpstr>
      <vt:lpstr>Trebuchet MS</vt:lpstr>
      <vt:lpstr>Poppins</vt:lpstr>
      <vt:lpstr>Consolas</vt:lpstr>
      <vt:lpstr>Calibri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PptxGenJS</dc:creator>
  <cp:lastModifiedBy>Szalkai Attila Gergely</cp:lastModifiedBy>
  <cp:revision>6</cp:revision>
  <dcterms:created xsi:type="dcterms:W3CDTF">2026-05-01T19:53:23Z</dcterms:created>
  <dcterms:modified xsi:type="dcterms:W3CDTF">2026-05-03T16:24:53Z</dcterms:modified>
</cp:coreProperties>
</file>